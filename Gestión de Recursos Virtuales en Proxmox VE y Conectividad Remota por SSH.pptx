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Plus Jakarta Sans"/>
      <ns0:bold ns1:id="rIdFont13"/>
    </ns0:embeddedFont>
    <ns0:embeddedFont>
      <ns0:font typeface="Fira Code"/>
      <ns0:regular ns1:id="rIdFont14"/>
    </ns0:embeddedFont>
    <ns0:embeddedFont>
      <ns0:font typeface="Inter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11e1d950-e1c5-4368-a078-dadfd93b0db6.fntdata" /><ns0:Relationship Id="rIdFont14" Type="http://schemas.openxmlformats.org/officeDocument/2006/relationships/font" Target="fonts/6cc9c45d-6806-4036-b57a-26a025c8f260.fntdata" /><ns0:Relationship Id="rIdFont15" Type="http://schemas.openxmlformats.org/officeDocument/2006/relationships/font" Target="fonts/8b12271a-b360-49fd-ab45-8c5447d41c26.fntdata" /><ns0:Relationship Id="rIdFont16" Type="http://schemas.openxmlformats.org/officeDocument/2006/relationships/font" Target="fonts/b3d40f05-83b5-4bd9-83dd-253896672c6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87050" y="533400"/>
            <a:ext cx="895350" cy="2762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444305"/>
            <a:ext cx="6309419" cy="7256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76219" y="4033837"/>
            <a:ext cx="4206180" cy="121920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444305"/>
            <a:ext cx="28575" cy="725685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76219" y="4033837"/>
            <a:ext cx="38100" cy="1219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57212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219" y="1881187"/>
            <a:ext cx="4206180" cy="2000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744" y="1890712"/>
            <a:ext cx="4187130" cy="1981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39450" y="590550"/>
            <a:ext cx="685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57000"/>
                </a:solidFill>
                <a:latin typeface="Inter"/>
              </a:rPr>
              <a:t>GRUPO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581025"/>
            <a:ext cx="6453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4A3B8"/>
                </a:solidFill>
                <a:latin typeface="Inter"/>
              </a:rPr>
              <a:t>SISTEMAS OPERATIVOS • ING. DIEGO PATRICK CARDENAS SEJAS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964084"/>
            <a:ext cx="6724903" cy="1508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Gestión de Recursos Virtuales en Proxmox VE y Conectividad Remota por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663255"/>
            <a:ext cx="640466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Análisis de comportamiento del hipervisor con Alpine Linux y optimización de sesiones remotas concurrentes.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4444305"/>
            <a:ext cx="761293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INTEGRANTES DEL EQUIPO: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4682430"/>
            <a:ext cx="6185594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Juan Pablo Coca Soliz • Lucas David Loaysa Siles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Carlos Alexander Velasquez Montaño • Max Mamani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4819" y="4224337"/>
            <a:ext cx="458718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Inter"/>
              </a:rPr>
              <a:t>OBJETIVO PRINCIPAL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4819" y="4462462"/>
            <a:ext cx="388233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Evaluar la modificación dinámica de hardware en caliente/frío y validar la estabilidad de SSH bajo carga concurrente en PuTTY.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10225"/>
            <a:ext cx="10972800" cy="790575"/>
          </a:xfrm>
          <a:prstGeom prst="roundRect">
            <a:avLst>
              <a:gd name="adj" fmla="val 144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62212"/>
            <a:ext cx="3530649" cy="1743075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462212"/>
            <a:ext cx="3530649" cy="1743075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462212"/>
            <a:ext cx="3530649" cy="1743075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195637"/>
            <a:ext cx="3054399" cy="771525"/>
          </a:xfrm>
          <a:prstGeom prst="roundRect">
            <a:avLst>
              <a:gd name="adj" fmla="val 98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68874" y="3376612"/>
            <a:ext cx="3054399" cy="590550"/>
          </a:xfrm>
          <a:prstGeom prst="roundRect">
            <a:avLst>
              <a:gd name="adj" fmla="val 1290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0024" y="3195637"/>
            <a:ext cx="3054399" cy="771525"/>
          </a:xfrm>
          <a:prstGeom prst="roundRect">
            <a:avLst>
              <a:gd name="adj" fmla="val 9876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89121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70510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74" y="2705100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024" y="2705100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57000"/>
                </a:solidFill>
                <a:latin typeface="Inter"/>
              </a:rPr>
              <a:t>PRÁCTICA Y PRUEBAS EN ALPINE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Modificación e Inspección de Recursos Virtuales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309937"/>
            <a:ext cx="284484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Fira Code"/>
              </a:rPr>
              <a:t>• vCPUs: 2 núcleos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Fira Code"/>
              </a:rPr>
              <a:t> • RAM: 1 GB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Fira Code"/>
              </a:rPr>
              <a:t> • Disco: 32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3490912"/>
            <a:ext cx="28448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Inter"/>
              </a:rPr>
              <a:t>Verificación:</a:t>
            </a:r>
            <a:r>
              <a:rPr b="1" sz="1125" i="0" u="none">
                <a:solidFill>
                  <a:srgbClr val="0369A1"/>
                </a:solidFill>
                <a:latin typeface="Inter"/>
              </a:rPr>
              <a:t> Núcleos reconocidos vía </a:t>
            </a:r>
            <a:r>
              <a:rPr b="1" sz="975" i="0" u="none">
                <a:solidFill>
                  <a:srgbClr val="0369A1"/>
                </a:solidFill>
                <a:latin typeface="Inter"/>
              </a:rPr>
              <a:t>nproc</a:t>
            </a:r>
            <a:r>
              <a:rPr b="1" sz="1125" i="0" u="none">
                <a:solidFill>
                  <a:srgbClr val="0369A1"/>
                </a:solidFill>
                <a:latin typeface="Inter"/>
              </a:rPr>
              <a:t>. RAM requirió reinicio completo.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424" y="3309937"/>
            <a:ext cx="284484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2410C"/>
                </a:solidFill>
                <a:latin typeface="Inter"/>
              </a:rPr>
              <a:t>Verificación:</a:t>
            </a:r>
            <a:r>
              <a:rPr b="1" sz="1125" i="0" u="none">
                <a:solidFill>
                  <a:srgbClr val="C2410C"/>
                </a:solidFill>
                <a:latin typeface="Inter"/>
              </a:rPr>
              <a:t> Detectado al instante mediante </a:t>
            </a:r>
            <a:r>
              <a:rPr b="1" sz="975" i="0" u="none">
                <a:solidFill>
                  <a:srgbClr val="C2410C"/>
                </a:solidFill>
                <a:latin typeface="Inter"/>
              </a:rPr>
              <a:t>/proc/partitions</a:t>
            </a:r>
            <a:r>
              <a:rPr b="1" sz="1125" i="0" u="none">
                <a:solidFill>
                  <a:srgbClr val="C2410C"/>
                </a:solidFill>
                <a:latin typeface="Inter"/>
              </a:rPr>
              <a:t> sin apagar la VM.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9025" y="5810250"/>
            <a:ext cx="180022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38BDF8"/>
                </a:solidFill>
                <a:latin typeface="Inter"/>
              </a:rPr>
              <a:t>EN CALIENTE (HOTPLUG)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800" y="5810250"/>
            <a:ext cx="186690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F43F5E"/>
                </a:solidFill>
                <a:latin typeface="Inter"/>
              </a:rPr>
              <a:t>EN FRÍO (COLDPLUG)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900362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Configuración base de la VM: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874" y="2900362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Escalado a 4 vCPUs y 2 GB RAM.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2900362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Nuevo disco virtual de 1 GB (sdb).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" y="5800725"/>
            <a:ext cx="571321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REGLA DE GESTIÓN EN PROXMOX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300" y="6029325"/>
            <a:ext cx="5441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Inter"/>
              </a:rPr>
              <a:t>Comportamiento según el estado operativo de la máquina virtual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8031" y="6019800"/>
            <a:ext cx="2131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FFFFFF"/>
                </a:solidFill>
                <a:latin typeface="Inter"/>
              </a:rPr>
              <a:t>Discos y Tarjetas de 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1137" y="6019800"/>
            <a:ext cx="2214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FFFFFF"/>
                </a:solidFill>
                <a:latin typeface="Inter"/>
              </a:rPr>
              <a:t>CPU, RAM y Tipo de BIOS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475" y="2700337"/>
            <a:ext cx="14501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Estado Inicial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5574" y="2700337"/>
            <a:ext cx="181272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Aumento en Frío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6724" y="2700337"/>
            <a:ext cx="21252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Adición en Caliente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9850"/>
            <a:ext cx="5353050" cy="3562350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609850"/>
            <a:ext cx="5353050" cy="3562350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972050"/>
            <a:ext cx="4724400" cy="885825"/>
          </a:xfrm>
          <a:prstGeom prst="roundRect">
            <a:avLst>
              <a:gd name="adj" fmla="val 8602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3675" y="4972050"/>
            <a:ext cx="4724400" cy="885825"/>
          </a:xfrm>
          <a:prstGeom prst="roundRect">
            <a:avLst>
              <a:gd name="adj" fmla="val 860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4314825"/>
            <a:ext cx="47244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925" y="4314825"/>
            <a:ext cx="38100" cy="4667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43675" y="4314825"/>
            <a:ext cx="47244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43675" y="4314825"/>
            <a:ext cx="38100" cy="4667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925" y="2924175"/>
            <a:ext cx="1028700" cy="22860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43675" y="2924175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775" y="2933700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525" y="2933700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57000"/>
                </a:solidFill>
                <a:latin typeface="Inter"/>
              </a:rPr>
              <a:t>ANÁLISIS DE ERRORES Y COMPORTAMIENTO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Pruebas de Límites de Hardware en Proxmox 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305175"/>
            <a:ext cx="62007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Memoria Insuficiente (128 MB)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6671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Intento de arranque fijando la memoria RAM en un valor extremadamente bajo. Proxmox denegó la inicialización.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467225"/>
            <a:ext cx="4514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7171"/>
                </a:solidFill>
                <a:latin typeface="Fira Code"/>
              </a:rPr>
              <a:t>TASK ERROR: minimum memory must be 1024MB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5133975"/>
            <a:ext cx="577572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Inter"/>
              </a:rPr>
              <a:t>LECCIÓN TÉCNICA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50" y="5334000"/>
            <a:ext cx="4495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881337"/>
                </a:solidFill>
                <a:latin typeface="Inter"/>
              </a:rPr>
              <a:t>El hipervisor valida umbrales mínimos estrictos requeridos para arrancar el kernel.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675" y="3305175"/>
            <a:ext cx="56483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Memoria Sobreasignada (8 GB)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36671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Asignación de 8 GB de RAM en un servidor físico host con capacidad real de solo ~5 GB disponibles.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4467225"/>
            <a:ext cx="4514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BBF24"/>
                </a:solidFill>
                <a:latin typeface="Fira Code"/>
              </a:rPr>
              <a:t>STATUS: ConsolenoVNC en Pantalla Negra (Unresponsive)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5133975"/>
            <a:ext cx="5486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Inter"/>
              </a:rPr>
              <a:t>LECCIÓN TÉCNICA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5600" y="5334000"/>
            <a:ext cx="4495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8350F"/>
                </a:solidFill>
                <a:latin typeface="Inter"/>
              </a:rPr>
              <a:t>Sobreasignar recursos sin reserva física bloquea por completo la consola de la VM.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2962275"/>
            <a:ext cx="895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11D48"/>
                </a:solidFill>
                <a:latin typeface="Inter"/>
              </a:rPr>
              <a:t>ESCENARIO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7975" y="2962275"/>
            <a:ext cx="91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ESCENARIO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36589"/>
            <a:ext cx="5835997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65389"/>
            <a:ext cx="5835997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294114"/>
            <a:ext cx="5835997" cy="916185"/>
          </a:xfrm>
          <a:prstGeom prst="roundRect">
            <a:avLst>
              <a:gd name="adj" fmla="val 1247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722364"/>
            <a:ext cx="5435947" cy="590550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4551164"/>
            <a:ext cx="5435947" cy="390525"/>
          </a:xfrm>
          <a:prstGeom prst="roundRect">
            <a:avLst>
              <a:gd name="adj" fmla="val 1951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97" y="2508944"/>
            <a:ext cx="4793902" cy="3429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22" y="2518469"/>
            <a:ext cx="4774852" cy="3409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455664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284464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5475089"/>
            <a:ext cx="1428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57000"/>
                </a:solidFill>
                <a:latin typeface="Inter"/>
              </a:rPr>
              <a:t>ACCESO REMOTO Y OPTIMIZACIÓN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Configuración y Pruebas de Conexión por SSH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436614"/>
            <a:ext cx="7134680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Ajustes en sshd_config (Alpine Linux)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2836664"/>
            <a:ext cx="522639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Fira Code"/>
              </a:rPr>
              <a:t>MaxSessions 50</a:t>
            </a:r>
            <a:r>
              <a:t>
</a:t>
            </a:r>
            <a:r>
              <a:rPr b="0" sz="1050" i="0" u="none">
                <a:solidFill>
                  <a:srgbClr val="38BDF8"/>
                </a:solidFill>
                <a:latin typeface="Fira Code"/>
              </a:rPr>
              <a:t> MaxStartups 30:30:100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389114"/>
            <a:ext cx="553119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Permite ingresar múltiples sesiones en ráfaga sin rechazar conexiones por límites por defecto.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265414"/>
            <a:ext cx="7134680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Dimensionamiento Final de la 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5456039"/>
            <a:ext cx="713468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Inter"/>
              </a:rPr>
              <a:t>Resultado de Validación Práctica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5675114"/>
            <a:ext cx="5531197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5803D"/>
                </a:solidFill>
                <a:latin typeface="Inter"/>
              </a:rPr>
              <a:t>5 sesiones simultáneas abiertas desde PuTTY. Respuesta fluida y estable sin degradación de rendimiento.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665464"/>
            <a:ext cx="838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2 vCPUs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9849" y="4665464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2 GB 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2923" y="4665464"/>
            <a:ext cx="10858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32 GB Disco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43600"/>
            <a:ext cx="10972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57450"/>
            <a:ext cx="3505200" cy="2209800"/>
          </a:xfrm>
          <a:prstGeom prst="roundRect">
            <a:avLst>
              <a:gd name="adj" fmla="val 60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57450"/>
            <a:ext cx="3505200" cy="2209800"/>
          </a:xfrm>
          <a:prstGeom prst="roundRect">
            <a:avLst>
              <a:gd name="adj" fmla="val 60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57450"/>
            <a:ext cx="3505200" cy="2209800"/>
          </a:xfrm>
          <a:prstGeom prst="roundRect">
            <a:avLst>
              <a:gd name="adj" fmla="val 60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4360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336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7336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73367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2857500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2857500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2857500"/>
            <a:ext cx="2381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57000"/>
                </a:solidFill>
                <a:latin typeface="Inter"/>
              </a:rPr>
              <a:t>CIERRE Y LECCIONES APRENDIDAS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524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Conclusiones Clave de la Práctica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153150"/>
            <a:ext cx="2547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Sistemas Operativos — Grupo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5975" y="6143625"/>
            <a:ext cx="2345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57000"/>
                </a:solidFill>
                <a:latin typeface="Inter"/>
              </a:rPr>
              <a:t>¿Preguntas / Comentarios?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19087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Flexibilidad de Proxmox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533775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Escalado dinámico de discos en caliente, adaptando la infraestructura sin interrumpir el servicio activo.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319087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Sincronía Hipervisor - 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3533775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Asignar recursos requiere el reinicio adecuado y la reconfiguración interna de servicios del sistema operativo huésped.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190875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Eficiencia en Consola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425" y="3533775"/>
            <a:ext cx="3048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Las conexiones SSH consumen mínimos recursos, permitiendo atender múltiples usuarios concurrentes en hardware moderado.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5703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https://www.seeweb.it/assets/images/page/proxmox-server-dashboard.jpeg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www.seeweb.it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7024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https://it.engineering.oregonstate.edu/sites/it.engineering.oregonstate.edu/files/putty5_0.PNG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34885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it.engineering.oregonstate.edu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